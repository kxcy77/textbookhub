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day. My name is Kagiso Mmatloa. My student number is 24301339. This is my SS4 final presentation for Mobile Application Development A. My app is called TextbookHub.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594360"/>
            <a:ext cx="3108960" cy="3108960"/>
          </a:xfrm>
          <a:prstGeom prst="arc">
            <a:avLst/>
          </a:prstGeom>
          <a:noFill/>
          <a:ln w="12700">
            <a:solidFill>
              <a:srgbClr val="E4F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1234440"/>
            <a:ext cx="1828800" cy="1828800"/>
          </a:xfrm>
          <a:prstGeom prst="arc">
            <a:avLst/>
          </a:prstGeom>
          <a:noFill/>
          <a:ln w="12700">
            <a:solidFill>
              <a:srgbClr val="FFF4D8"/>
            </a:solidFill>
            <a:prstDash val="solid"/>
          </a:ln>
        </p:spPr>
      </p:sp>
      <p:pic>
        <p:nvPicPr>
          <p:cNvPr id="6" name="Image 0" descr="C:\Users\LENOVO\Documents\New project\docs\SS4\assets\textbookh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713232"/>
            <a:ext cx="4480560" cy="1600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514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B"/>
                </a:solidFill>
              </a:rPr>
              <a:t>SS4 Final Project Presentation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13232" y="292608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4C81"/>
                </a:solidFill>
              </a:rPr>
              <a:t>TextbookHub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49808" y="370332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0272E"/>
                </a:solidFill>
              </a:rPr>
              <a:t>Student textbook marketplace app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749808" y="434340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DDEAF4"/>
          </a:solidFill>
          <a:ln w="12700">
            <a:solidFill>
              <a:srgbClr val="DDEA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4448556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4C81"/>
                </a:solidFill>
              </a:rPr>
              <a:t>Kagiso Mmatloa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54680" y="434340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4F1EA"/>
          </a:solidFill>
          <a:ln w="12700">
            <a:solidFill>
              <a:srgbClr val="E4F1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64408" y="4448556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5B"/>
                </a:solidFill>
              </a:rPr>
              <a:t>24301339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54880" y="434340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FF4D8"/>
          </a:solidFill>
          <a:ln w="12700">
            <a:solidFill>
              <a:srgbClr val="FFF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64608" y="4448556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891E"/>
                </a:solidFill>
              </a:rPr>
              <a:t>MADA372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503920" y="996696"/>
            <a:ext cx="2292858" cy="5001768"/>
          </a:xfrm>
          <a:prstGeom prst="roundRect">
            <a:avLst>
              <a:gd name="adj" fmla="val 478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7" name="Image 1" descr="C:\Users\LENOVO\Documents\New project\docs\ui-references\ss2_spl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051560"/>
            <a:ext cx="2201418" cy="4892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458200" y="6053328"/>
            <a:ext cx="238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Welcome screen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2920" y="65379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Slide 1 | 0:00 - 0:45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8229600" y="65379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Kagiso Mmatloa | 24301339 | MADA372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C4891E"/>
          </a:solidFill>
          <a:ln w="12700">
            <a:solidFill>
              <a:srgbClr val="C489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</a:rPr>
              <a:t>TextbookHub SS4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81"/>
                </a:solidFill>
              </a:rPr>
              <a:t>Project Goal and Intended Users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399032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Project goal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1764792"/>
            <a:ext cx="284378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Help students buy and sell second-hand textbooks in a simple, affordable, and student-focused way.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0520" y="12344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1688" y="1399032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Intended users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61688" y="1764792"/>
            <a:ext cx="284378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Students in higher education institutions who need affordable textbooks or want to sell used textbooks.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26680" y="12344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7848" y="1399032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Contextual relevance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27848" y="1764792"/>
            <a:ext cx="284378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Textbooks are expensive. TextbookHub creates a local marketplace experience for student needs.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3246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81"/>
                </a:solidFill>
              </a:rPr>
              <a:t>Core app features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3657600"/>
            <a:ext cx="457200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0272E"/>
                </a:solidFill>
              </a:rPr>
              <a:t>Register and sign in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0272E"/>
                </a:solidFill>
              </a:rPr>
              <a:t>Browse textbook listings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0272E"/>
                </a:solidFill>
              </a:rPr>
              <a:t>Search and filter books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0272E"/>
                </a:solidFill>
              </a:rPr>
              <a:t>View book details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0272E"/>
                </a:solidFill>
              </a:rPr>
              <a:t>Inquire, message, and sell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37960" y="3054096"/>
            <a:ext cx="1305306" cy="2807208"/>
          </a:xfrm>
          <a:prstGeom prst="roundRect">
            <a:avLst>
              <a:gd name="adj" fmla="val 840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8" name="Image 0" descr="C:\Users\LENOVO\Documents\New project\docs\ui-references\ss2_regi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3108960"/>
            <a:ext cx="1213866" cy="26974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92240" y="5916168"/>
            <a:ext cx="13967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Register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595360" y="3054096"/>
            <a:ext cx="1305306" cy="2807208"/>
          </a:xfrm>
          <a:prstGeom prst="roundRect">
            <a:avLst>
              <a:gd name="adj" fmla="val 840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21" name="Image 1" descr="C:\Users\LENOVO\Documents\New project\docs\ui-references\ss2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3108960"/>
            <a:ext cx="1213866" cy="2697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549640" y="5916168"/>
            <a:ext cx="13967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Browse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2920" y="65379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Slide 2 | 0:45 - 1:45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8229600" y="65379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Kagiso Mmatloa | 24301339 | MADA372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C4891E"/>
          </a:solidFill>
          <a:ln w="12700">
            <a:solidFill>
              <a:srgbClr val="C489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</a:rPr>
              <a:t>TextbookHub SS4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81"/>
                </a:solidFill>
              </a:rPr>
              <a:t>Development Journey: SS1 to SS4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6692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7" name="Image 0" descr="C:\Users\LENOVO\Documents\New project\docs\SS4\assets\ss1_to_ss4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344168"/>
            <a:ext cx="5449824" cy="1801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" y="3218688"/>
            <a:ext cx="5413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Project development flow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629400" y="123444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DDEAF4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30568" y="1399032"/>
            <a:ext cx="4306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SS1: Strategy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30568" y="1764792"/>
            <a:ext cx="43068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Problem statement, MVP scope, user needs, requirements, and DevOps plan.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629400" y="233172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E4F1E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30568" y="2496312"/>
            <a:ext cx="4306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SS2: UX/UI Design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30568" y="2862072"/>
            <a:ext cx="43068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Wireframes, prototype screens, sitemap, branding, and visual style.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4360" y="38862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5528" y="4050792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SS3: Application Development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5528" y="4416552"/>
            <a:ext cx="494690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Android Studio implementation using Kotlin, XML layouts, navigation, and marketplace screens.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63640" y="388620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64808" y="4050792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SS4: Finalisation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64808" y="4416552"/>
            <a:ext cx="467258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Refined functionality, documentation, presentation, GitHub evidence, and deployment preparation.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5379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Slide 3 | 1:45 - 3:00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8229600" y="65379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Kagiso Mmatloa | 24301339 | MADA372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C4891E"/>
          </a:solidFill>
          <a:ln w="12700">
            <a:solidFill>
              <a:srgbClr val="C489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</a:rPr>
              <a:t>TextbookHub SS4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81"/>
                </a:solidFill>
              </a:rPr>
              <a:t>System Specification and Architecture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669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7" name="Image 0" descr="C:\Users\LENOVO\Documents\New project\docs\SS4\assets\architectur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344168"/>
            <a:ext cx="5449824" cy="19385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" y="3355848"/>
            <a:ext cx="5413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Kotlin/XML architecture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83680" y="123444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84848" y="1399032"/>
            <a:ext cx="4306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Technology stack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84848" y="1764792"/>
            <a:ext cx="43068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Android Studio, Kotlin, XML layouts, Material Components, RecyclerView.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583680" y="233172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2496312"/>
            <a:ext cx="4306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Binding and data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84848" y="2862072"/>
            <a:ext cx="43068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ViewBinding connects Kotlin code to UI. BookCatalogViewModel holds catalogue/search logic.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" y="3977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81"/>
                </a:solidFill>
              </a:rPr>
              <a:t>Coding highlights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2960" y="4407408"/>
            <a:ext cx="102412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20272E"/>
                </a:solidFill>
              </a:rPr>
              <a:t>Book data class: title, author, edition, price, description, image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20272E"/>
                </a:solidFill>
              </a:rPr>
              <a:t>ListAdapter and DiffUtil for efficient RecyclerView updates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20272E"/>
                </a:solidFill>
              </a:rPr>
              <a:t>Validation on login, registration, sell listing, search, and chat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20272E"/>
                </a:solidFill>
              </a:rPr>
              <a:t>Activities and intents for structured navigation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5379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Slide 4 | 3:00 - 4:15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8229600" y="65379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Kagiso Mmatloa | 24301339 | MADA372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C4891E"/>
          </a:solidFill>
          <a:ln w="12700">
            <a:solidFill>
              <a:srgbClr val="C489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</a:rPr>
              <a:t>TextbookHub SS4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81"/>
                </a:solidFill>
              </a:rPr>
              <a:t>Key Features at a Glance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1179576"/>
            <a:ext cx="2045970" cy="4453128"/>
          </a:xfrm>
          <a:prstGeom prst="roundRect">
            <a:avLst>
              <a:gd name="adj" fmla="val 536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7" name="Image 0" descr="C:\Users\LENOVO\Documents\New project\docs\ui-references\ss2_regi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1954530" cy="4343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687568"/>
            <a:ext cx="21374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Registration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926080" y="1179576"/>
            <a:ext cx="2045970" cy="4453128"/>
          </a:xfrm>
          <a:prstGeom prst="roundRect">
            <a:avLst>
              <a:gd name="adj" fmla="val 536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0" name="Image 1" descr="C:\Users\LENOVO\Documents\New project\docs\ui-references\ss2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234440"/>
            <a:ext cx="1954530" cy="4343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80360" y="5687568"/>
            <a:ext cx="21374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Home and search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074920" y="1179576"/>
            <a:ext cx="2045970" cy="4453128"/>
          </a:xfrm>
          <a:prstGeom prst="roundRect">
            <a:avLst>
              <a:gd name="adj" fmla="val 536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3" name="Image 2" descr="C:\Users\LENOVO\Documents\New project\docs\ui-references\ss2_book_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234440"/>
            <a:ext cx="1954530" cy="4343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29200" y="5687568"/>
            <a:ext cx="21374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Book detail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7223760" y="1179576"/>
            <a:ext cx="2045970" cy="4453128"/>
          </a:xfrm>
          <a:prstGeom prst="roundRect">
            <a:avLst>
              <a:gd name="adj" fmla="val 536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6" name="Image 3" descr="C:\Users\LENOVO\Documents\New project\docs\ui-references\ss2_messag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234440"/>
            <a:ext cx="1954530" cy="4343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78040" y="5687568"/>
            <a:ext cx="21374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Messages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9372600" y="1179576"/>
            <a:ext cx="2045970" cy="4453128"/>
          </a:xfrm>
          <a:prstGeom prst="roundRect">
            <a:avLst>
              <a:gd name="adj" fmla="val 536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9" name="Image 4" descr="C:\Users\LENOVO\Documents\New project\docs\ui-references\ss2_se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1234440"/>
            <a:ext cx="1954530" cy="43434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326880" y="5687568"/>
            <a:ext cx="21374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Sell book</a:t>
            </a:r>
            <a:endParaRPr lang="en-US" sz="850" dirty="0"/>
          </a:p>
        </p:txBody>
      </p:sp>
      <p:sp>
        <p:nvSpPr>
          <p:cNvPr id="21" name="Shape 1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02920" y="65379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Slide 5 | 4:15 - 5:00</a:t>
            </a:r>
            <a:endParaRPr lang="en-US" sz="750" dirty="0"/>
          </a:p>
        </p:txBody>
      </p:sp>
      <p:sp>
        <p:nvSpPr>
          <p:cNvPr id="23" name="Text 16"/>
          <p:cNvSpPr/>
          <p:nvPr/>
        </p:nvSpPr>
        <p:spPr>
          <a:xfrm>
            <a:off x="8229600" y="65379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Kagiso Mmatloa | 24301339 | MADA372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C4891E"/>
          </a:solidFill>
          <a:ln w="12700">
            <a:solidFill>
              <a:srgbClr val="C489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</a:rPr>
              <a:t>TextbookHub SS4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81"/>
                </a:solidFill>
              </a:rPr>
              <a:t>Documentation Summary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39903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Project report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1764792"/>
            <a:ext cx="30723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Includes project scope, goals, architecture, flow diagrams, key features, references, and GitHub evidence.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12344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39903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Design evidence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6008" y="1764792"/>
            <a:ext cx="30723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SS2 UI screenshots are included as visual references for implemented screens.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83880" y="123444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5048" y="13990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Rubric alignment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85048" y="1764792"/>
            <a:ext cx="252374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Kotlin, XML UI, ViewBinding, code quality, deployment, and presentation requirements are addressed.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3246120"/>
            <a:ext cx="10149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6" name="Image 0" descr="C:\Users\LENOVO\Documents\New project\docs\SS4\assets\user_journey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355848"/>
            <a:ext cx="9930384" cy="16184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42416" y="5047488"/>
            <a:ext cx="989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User journey: launch, register/sign in, search, detail, inquiry/chat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65379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Slide 6 | 5:00 - 5:45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229600" y="65379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Kagiso Mmatloa | 24301339 | MADA372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C4891E"/>
          </a:solidFill>
          <a:ln w="12700">
            <a:solidFill>
              <a:srgbClr val="C489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</a:rPr>
              <a:t>TextbookHub SS4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81"/>
                </a:solidFill>
              </a:rPr>
              <a:t>Live Demo Part 1: Start 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1225296"/>
            <a:ext cx="2087118" cy="4544568"/>
          </a:xfrm>
          <a:prstGeom prst="roundRect">
            <a:avLst>
              <a:gd name="adj" fmla="val 525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7" name="Image 0" descr="C:\Users\LENOVO\Documents\New project\docs\ui-references\ss2_sp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80160"/>
            <a:ext cx="1995678" cy="4434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5824728"/>
            <a:ext cx="2178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1. Welcome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0" y="1225296"/>
            <a:ext cx="2087118" cy="4544568"/>
          </a:xfrm>
          <a:prstGeom prst="roundRect">
            <a:avLst>
              <a:gd name="adj" fmla="val 525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0" name="Image 1" descr="C:\Users\LENOVO\Documents\New project\docs\ui-references\ss2_regist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80160"/>
            <a:ext cx="1995678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54680" y="5824728"/>
            <a:ext cx="2178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2. Register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577840" y="1225296"/>
            <a:ext cx="2087118" cy="4544568"/>
          </a:xfrm>
          <a:prstGeom prst="roundRect">
            <a:avLst>
              <a:gd name="adj" fmla="val 525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3" name="Image 2" descr="C:\Users\LENOVO\Documents\New project\docs\ui-references\ss2_pro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280160"/>
            <a:ext cx="1995678" cy="4434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32120" y="5824728"/>
            <a:ext cx="2178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3. Profile info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8229600" y="141732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DDEAF4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430768" y="158191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Say this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430768" y="1947672"/>
            <a:ext cx="256946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I will show the welcome screen, registration, STADIO institution dropdown, validation, and saved profile details.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229600" y="278892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E4F1E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430768" y="295351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Marks covered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430768" y="3319272"/>
            <a:ext cx="256946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Project goal, intended users, navigation, input validation, and profile functionality.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02920" y="65379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Slide 7 | 5:45 - 7:00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8229600" y="65379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Kagiso Mmatloa | 24301339 | MADA372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C4891E"/>
          </a:solidFill>
          <a:ln w="12700">
            <a:solidFill>
              <a:srgbClr val="C489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</a:rPr>
              <a:t>TextbookHub SS4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81"/>
                </a:solidFill>
              </a:rPr>
              <a:t>Live Demo Part 2: Marketplace 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1179576"/>
            <a:ext cx="2087118" cy="4544568"/>
          </a:xfrm>
          <a:prstGeom prst="roundRect">
            <a:avLst>
              <a:gd name="adj" fmla="val 525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7" name="Image 0" descr="C:\Users\LENOVO\Documents\New project\docs\ui-references\ss2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34440"/>
            <a:ext cx="1995678" cy="4434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5779008"/>
            <a:ext cx="2178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1. Search catalogue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0" y="1179576"/>
            <a:ext cx="2087118" cy="4544568"/>
          </a:xfrm>
          <a:prstGeom prst="roundRect">
            <a:avLst>
              <a:gd name="adj" fmla="val 525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0" name="Image 1" descr="C:\Users\LENOVO\Documents\New project\docs\ui-references\ss2_book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1995678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54680" y="5779008"/>
            <a:ext cx="2178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2. View book details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577840" y="1179576"/>
            <a:ext cx="2087118" cy="4544568"/>
          </a:xfrm>
          <a:prstGeom prst="roundRect">
            <a:avLst>
              <a:gd name="adj" fmla="val 525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3" name="Image 2" descr="C:\Users\LENOVO\Documents\New project\docs\ui-references\ss2_inqui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234440"/>
            <a:ext cx="1995678" cy="4434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32120" y="5779008"/>
            <a:ext cx="2178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3. Contact seller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8321040" y="12801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81"/>
                </a:solidFill>
              </a:rPr>
              <a:t>Demo checklist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321040" y="1737360"/>
            <a:ext cx="29718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0272E"/>
                </a:solidFill>
              </a:rPr>
              <a:t>Search by title, author, course, condition, or description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0272E"/>
                </a:solidFill>
              </a:rPr>
              <a:t>Open a listing to show expanded textbook details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0272E"/>
                </a:solidFill>
              </a:rPr>
              <a:t>Use Inquire Now to move into the interaction screen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02920" y="65379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Slide 8 | 7:00 - 9:00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8229600" y="65379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Kagiso Mmatloa | 24301339 | MADA372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C4891E"/>
          </a:solidFill>
          <a:ln w="12700">
            <a:solidFill>
              <a:srgbClr val="C489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</a:rPr>
              <a:t>TextbookHub SS4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81"/>
                </a:solidFill>
              </a:rPr>
              <a:t>Live Demo Part 3: Interaction 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1179576"/>
            <a:ext cx="2087118" cy="4544568"/>
          </a:xfrm>
          <a:prstGeom prst="roundRect">
            <a:avLst>
              <a:gd name="adj" fmla="val 525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7" name="Image 0" descr="C:\Users\LENOVO\Documents\New project\docs\ui-references\ss2_mess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34440"/>
            <a:ext cx="1995678" cy="4434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5779008"/>
            <a:ext cx="2178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Messages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0" y="1179576"/>
            <a:ext cx="2087118" cy="4544568"/>
          </a:xfrm>
          <a:prstGeom prst="roundRect">
            <a:avLst>
              <a:gd name="adj" fmla="val 525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0" name="Image 1" descr="C:\Users\LENOVO\Documents\New project\docs\ui-references\ss2_s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1995678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54680" y="5779008"/>
            <a:ext cx="2178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Sell book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577840" y="1179576"/>
            <a:ext cx="2087118" cy="4544568"/>
          </a:xfrm>
          <a:prstGeom prst="roundRect">
            <a:avLst>
              <a:gd name="adj" fmla="val 525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13" name="Image 2" descr="C:\Users\LENOVO\Documents\New project\docs\ui-references\ss2_pro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234440"/>
            <a:ext cx="1995678" cy="4434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32120" y="5779008"/>
            <a:ext cx="2178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Profile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8229600" y="132588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430768" y="149047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Messages and chat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430768" y="1856232"/>
            <a:ext cx="261518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Open a message, type a reply, and show empty-message validation.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229600" y="269748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430768" y="286207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Sell book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430768" y="3227832"/>
            <a:ext cx="261518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Show book photo upload, required fields, price validation, and condition selection.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229600" y="406908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430768" y="423367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Profile and notification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430768" y="4599432"/>
            <a:ext cx="261518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Show saved registration info and the notification button.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02920" y="65379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Slide 9 | 9:00 - 11:15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8229600" y="65379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Kagiso Mmatloa | 24301339 | MADA372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C4891E"/>
          </a:solidFill>
          <a:ln w="12700">
            <a:solidFill>
              <a:srgbClr val="C489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</a:rPr>
              <a:t>TextbookHub SS4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81"/>
                </a:solidFill>
              </a:rPr>
              <a:t>GitHub and Deployment Evidence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DDEAF4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399032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GitHub repository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764792"/>
            <a:ext cx="45354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https://github.com/kxcy77/TextbookHub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907792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Version control evidence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3273552"/>
            <a:ext cx="453542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Main and development branches. Meaningful commits showing documentation, navigation, profile, binding, and rubric improvements.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23444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E4F1E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399032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Build output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73368" y="1764792"/>
            <a:ext cx="45354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The Android project builds successfully as a debug APK through Gradle/Android Studio.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274320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2907792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Amazon preparation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3368" y="3273552"/>
            <a:ext cx="453542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Final release requires signed APK/AAB, screenshots, app description, and Amazon Developer Console listing evidence.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0" y="4892040"/>
            <a:ext cx="7589520" cy="384048"/>
          </a:xfrm>
          <a:prstGeom prst="roundRect">
            <a:avLst>
              <a:gd name="adj" fmla="val 19048"/>
            </a:avLst>
          </a:prstGeom>
          <a:solidFill>
            <a:srgbClr val="FFF4D8"/>
          </a:solidFill>
          <a:ln w="12700">
            <a:solidFill>
              <a:srgbClr val="FFF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95728" y="4997196"/>
            <a:ext cx="7370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891E"/>
                </a:solidFill>
              </a:rPr>
              <a:t>Professional evidence for SS4 deployment and hosting marks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379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Slide 10 | 11:15 - 12:15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229600" y="65379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Kagiso Mmatloa | 24301339 | MADA372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73152"/>
          </a:xfrm>
          <a:prstGeom prst="rect">
            <a:avLst/>
          </a:prstGeom>
          <a:solidFill>
            <a:srgbClr val="C4891E"/>
          </a:solidFill>
          <a:ln w="12700">
            <a:solidFill>
              <a:srgbClr val="C489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</a:rPr>
              <a:t>TextbookHub SS4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81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4C81"/>
                </a:solidFill>
              </a:rPr>
              <a:t>TextbookHub meets the MVP requirements for a student textbook marketplace.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512064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0272E"/>
                </a:solidFill>
              </a:rPr>
              <a:t>Register and sign in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0272E"/>
                </a:solidFill>
              </a:rPr>
              <a:t>Browse and search textbook listings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0272E"/>
                </a:solidFill>
              </a:rPr>
              <a:t>View expanded book details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0272E"/>
                </a:solidFill>
              </a:rPr>
              <a:t>Contact sellers and reply in chat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0272E"/>
                </a:solidFill>
              </a:rPr>
              <a:t>Upload book photos and manage profile information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66560" y="20116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7728" y="2176272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Technical proof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67728" y="2542032"/>
            <a:ext cx="362102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Kotlin, XML layouts, ViewBinding, RecyclerView, ViewModel logic, input validation, and navigation.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66560" y="3383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67728" y="3547872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</a:rPr>
              <a:t>Final alignment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67728" y="3913632"/>
            <a:ext cx="362102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72E"/>
                </a:solidFill>
              </a:rPr>
              <a:t>SS1 strategy, SS2 design, SS3 development, and SS4 finalisation are connected.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5257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7D5B"/>
                </a:solidFill>
              </a:rPr>
              <a:t>Thank you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379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Slide 11 | 12:15 - 13:00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229600" y="65379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Kagiso Mmatloa | 24301339 | MADA372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STADIO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TextbookHub SS4 Presentation</dc:title>
  <dc:subject>MADA372 SS4 TextbookHub final presentation</dc:subject>
  <dc:creator>Kagiso Mmatloa</dc:creator>
  <cp:lastModifiedBy>Kagiso Mmatloa</cp:lastModifiedBy>
  <cp:revision>1</cp:revision>
  <dcterms:created xsi:type="dcterms:W3CDTF">2026-06-15T17:55:12Z</dcterms:created>
  <dcterms:modified xsi:type="dcterms:W3CDTF">2026-06-15T17:55:12Z</dcterms:modified>
</cp:coreProperties>
</file>